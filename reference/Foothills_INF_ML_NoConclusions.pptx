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1" r:id="rId5"/>
    <p:sldId id="266" r:id="rId6"/>
    <p:sldId id="263" r:id="rId7"/>
    <p:sldId id="268" r:id="rId8"/>
    <p:sldId id="260" r:id="rId9"/>
    <p:sldId id="262" r:id="rId10"/>
    <p:sldId id="269" r:id="rId11"/>
    <p:sldId id="267" r:id="rId12"/>
    <p:sldId id="270" r:id="rId13"/>
    <p:sldId id="276" r:id="rId14"/>
    <p:sldId id="278" r:id="rId15"/>
    <p:sldId id="275" r:id="rId16"/>
    <p:sldId id="277" r:id="rId17"/>
    <p:sldId id="27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lawson, Jake" userId="ba431c35-9704-4e84-9162-b1de6c46a043" providerId="ADAL" clId="{5F512FCC-C622-4171-8279-DA65E63E12FF}"/>
    <pc:docChg chg="undo custSel addSld delSld modSld sldOrd">
      <pc:chgData name="Slawson, Jake" userId="ba431c35-9704-4e84-9162-b1de6c46a043" providerId="ADAL" clId="{5F512FCC-C622-4171-8279-DA65E63E12FF}" dt="2026-08-25T20:46:34.633" v="9098" actId="2696"/>
      <pc:docMkLst>
        <pc:docMk/>
      </pc:docMkLst>
      <pc:sldChg chg="addSp modSp mod">
        <pc:chgData name="Slawson, Jake" userId="ba431c35-9704-4e84-9162-b1de6c46a043" providerId="ADAL" clId="{5F512FCC-C622-4171-8279-DA65E63E12FF}" dt="2026-07-28T17:17:45.086" v="8977" actId="20577"/>
        <pc:sldMkLst>
          <pc:docMk/>
          <pc:sldMk cId="3054026725" sldId="257"/>
        </pc:sldMkLst>
        <pc:spChg chg="mod">
          <ac:chgData name="Slawson, Jake" userId="ba431c35-9704-4e84-9162-b1de6c46a043" providerId="ADAL" clId="{5F512FCC-C622-4171-8279-DA65E63E12FF}" dt="2026-07-28T17:17:45.086" v="8977" actId="20577"/>
          <ac:spMkLst>
            <pc:docMk/>
            <pc:sldMk cId="3054026725" sldId="257"/>
            <ac:spMk id="3" creationId="{DFD6D81C-2637-F840-757F-150533EA2C46}"/>
          </ac:spMkLst>
        </pc:spChg>
      </pc:sldChg>
      <pc:sldChg chg="addSp modSp mod">
        <pc:chgData name="Slawson, Jake" userId="ba431c35-9704-4e84-9162-b1de6c46a043" providerId="ADAL" clId="{5F512FCC-C622-4171-8279-DA65E63E12FF}" dt="2026-07-28T17:18:03.906" v="8994" actId="20577"/>
        <pc:sldMkLst>
          <pc:docMk/>
          <pc:sldMk cId="2640358275" sldId="258"/>
        </pc:sldMkLst>
        <pc:spChg chg="mod">
          <ac:chgData name="Slawson, Jake" userId="ba431c35-9704-4e84-9162-b1de6c46a043" providerId="ADAL" clId="{5F512FCC-C622-4171-8279-DA65E63E12FF}" dt="2026-07-28T17:18:03.906" v="8994" actId="20577"/>
          <ac:spMkLst>
            <pc:docMk/>
            <pc:sldMk cId="2640358275" sldId="258"/>
            <ac:spMk id="3" creationId="{B793FA09-A36E-15BF-E025-C9BE4BD9E3CF}"/>
          </ac:spMkLst>
        </pc:spChg>
      </pc:sldChg>
      <pc:sldChg chg="modSp mod">
        <pc:chgData name="Slawson, Jake" userId="ba431c35-9704-4e84-9162-b1de6c46a043" providerId="ADAL" clId="{5F512FCC-C622-4171-8279-DA65E63E12FF}" dt="2026-07-28T17:19:18.545" v="9096" actId="1036"/>
        <pc:sldMkLst>
          <pc:docMk/>
          <pc:sldMk cId="2479327644" sldId="262"/>
        </pc:sldMkLst>
        <pc:spChg chg="mod">
          <ac:chgData name="Slawson, Jake" userId="ba431c35-9704-4e84-9162-b1de6c46a043" providerId="ADAL" clId="{5F512FCC-C622-4171-8279-DA65E63E12FF}" dt="2026-07-28T17:19:12.862" v="9084" actId="20577"/>
          <ac:spMkLst>
            <pc:docMk/>
            <pc:sldMk cId="2479327644" sldId="262"/>
            <ac:spMk id="8" creationId="{FFE253B2-CF52-1A0C-44CD-025ED34B1FAC}"/>
          </ac:spMkLst>
        </pc:spChg>
        <pc:picChg chg="mod">
          <ac:chgData name="Slawson, Jake" userId="ba431c35-9704-4e84-9162-b1de6c46a043" providerId="ADAL" clId="{5F512FCC-C622-4171-8279-DA65E63E12FF}" dt="2026-07-28T17:19:18.545" v="9096" actId="1036"/>
          <ac:picMkLst>
            <pc:docMk/>
            <pc:sldMk cId="2479327644" sldId="262"/>
            <ac:picMk id="7" creationId="{E632BB2E-6464-0B77-2C30-741E2EF0C1D7}"/>
          </ac:picMkLst>
        </pc:picChg>
        <pc:picChg chg="mod">
          <ac:chgData name="Slawson, Jake" userId="ba431c35-9704-4e84-9162-b1de6c46a043" providerId="ADAL" clId="{5F512FCC-C622-4171-8279-DA65E63E12FF}" dt="2026-07-28T17:19:18.545" v="9096" actId="1036"/>
          <ac:picMkLst>
            <pc:docMk/>
            <pc:sldMk cId="2479327644" sldId="262"/>
            <ac:picMk id="9" creationId="{9F0AA31E-2993-5155-F7E8-AE08E3C77EEE}"/>
          </ac:picMkLst>
        </pc:picChg>
      </pc:sldChg>
      <pc:sldChg chg="modSp del mod">
        <pc:chgData name="Slawson, Jake" userId="ba431c35-9704-4e84-9162-b1de6c46a043" providerId="ADAL" clId="{5F512FCC-C622-4171-8279-DA65E63E12FF}" dt="2026-08-25T20:46:09.519" v="9097" actId="2696"/>
        <pc:sldMkLst>
          <pc:docMk/>
          <pc:sldMk cId="2980929696" sldId="264"/>
        </pc:sldMkLst>
      </pc:sldChg>
      <pc:sldChg chg="modSp del mod">
        <pc:chgData name="Slawson, Jake" userId="ba431c35-9704-4e84-9162-b1de6c46a043" providerId="ADAL" clId="{5F512FCC-C622-4171-8279-DA65E63E12FF}" dt="2026-08-25T20:46:09.519" v="9097" actId="2696"/>
        <pc:sldMkLst>
          <pc:docMk/>
          <pc:sldMk cId="2568771037" sldId="265"/>
        </pc:sldMkLst>
      </pc:sldChg>
      <pc:sldChg chg="addSp delSp modSp mod ord">
        <pc:chgData name="Slawson, Jake" userId="ba431c35-9704-4e84-9162-b1de6c46a043" providerId="ADAL" clId="{5F512FCC-C622-4171-8279-DA65E63E12FF}" dt="2026-07-27T18:17:38.500" v="8699" actId="20577"/>
        <pc:sldMkLst>
          <pc:docMk/>
          <pc:sldMk cId="630802829" sldId="268"/>
        </pc:sldMkLst>
        <pc:spChg chg="mod">
          <ac:chgData name="Slawson, Jake" userId="ba431c35-9704-4e84-9162-b1de6c46a043" providerId="ADAL" clId="{5F512FCC-C622-4171-8279-DA65E63E12FF}" dt="2026-07-27T18:17:38.500" v="8699" actId="20577"/>
          <ac:spMkLst>
            <pc:docMk/>
            <pc:sldMk cId="630802829" sldId="268"/>
            <ac:spMk id="8" creationId="{54EE209F-4725-C255-D023-F3834416B18D}"/>
          </ac:spMkLst>
        </pc:spChg>
      </pc:sldChg>
      <pc:sldChg chg="del">
        <pc:chgData name="Slawson, Jake" userId="ba431c35-9704-4e84-9162-b1de6c46a043" providerId="ADAL" clId="{5F512FCC-C622-4171-8279-DA65E63E12FF}" dt="2026-08-25T20:46:34.633" v="9098" actId="2696"/>
        <pc:sldMkLst>
          <pc:docMk/>
          <pc:sldMk cId="3365371791" sldId="273"/>
        </pc:sldMkLst>
      </pc:sldChg>
      <pc:sldChg chg="modSp del mod">
        <pc:chgData name="Slawson, Jake" userId="ba431c35-9704-4e84-9162-b1de6c46a043" providerId="ADAL" clId="{5F512FCC-C622-4171-8279-DA65E63E12FF}" dt="2026-08-25T20:46:34.633" v="9098" actId="2696"/>
        <pc:sldMkLst>
          <pc:docMk/>
          <pc:sldMk cId="1901099321" sldId="274"/>
        </pc:sldMkLst>
        <pc:spChg chg="mod">
          <ac:chgData name="Slawson, Jake" userId="ba431c35-9704-4e84-9162-b1de6c46a043" providerId="ADAL" clId="{5F512FCC-C622-4171-8279-DA65E63E12FF}" dt="2026-07-27T18:36:54.479" v="8974" actId="5793"/>
          <ac:spMkLst>
            <pc:docMk/>
            <pc:sldMk cId="1901099321" sldId="274"/>
            <ac:spMk id="3" creationId="{11B0C949-681C-0A41-CB06-0BF94DEABBB1}"/>
          </ac:spMkLst>
        </pc:spChg>
      </pc:sldChg>
      <pc:sldChg chg="addSp delSp modSp add mod ord modShow">
        <pc:chgData name="Slawson, Jake" userId="ba431c35-9704-4e84-9162-b1de6c46a043" providerId="ADAL" clId="{5F512FCC-C622-4171-8279-DA65E63E12FF}" dt="2026-07-27T18:35:01.380" v="8904" actId="114"/>
        <pc:sldMkLst>
          <pc:docMk/>
          <pc:sldMk cId="4233129245" sldId="277"/>
        </pc:sldMkLst>
        <pc:spChg chg="add mod">
          <ac:chgData name="Slawson, Jake" userId="ba431c35-9704-4e84-9162-b1de6c46a043" providerId="ADAL" clId="{5F512FCC-C622-4171-8279-DA65E63E12FF}" dt="2026-07-27T18:35:01.380" v="8904" actId="114"/>
          <ac:spMkLst>
            <pc:docMk/>
            <pc:sldMk cId="4233129245" sldId="277"/>
            <ac:spMk id="11" creationId="{9CE7FD7B-CDAC-BA96-4A1C-CAE8A1DAAC2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40ADDEC-B6F9-AF49-9C26-DC907E0A8CC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84" b="22456"/>
          <a:stretch/>
        </p:blipFill>
        <p:spPr>
          <a:xfrm>
            <a:off x="0" y="-69011"/>
            <a:ext cx="12192000" cy="69270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4DC8531-65B3-C74E-B55D-93642063E37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42361" y="2216988"/>
            <a:ext cx="4166559" cy="2750085"/>
          </a:xfrm>
          <a:prstGeom prst="rect">
            <a:avLst/>
          </a:prstGeom>
        </p:spPr>
      </p:pic>
      <p:pic>
        <p:nvPicPr>
          <p:cNvPr id="11" name="Picture 10" descr="DW-Hor-REV.png">
            <a:extLst>
              <a:ext uri="{FF2B5EF4-FFF2-40B4-BE49-F238E27FC236}">
                <a16:creationId xmlns:a16="http://schemas.microsoft.com/office/drawing/2014/main" id="{421F63B7-86D2-D94E-9481-CB832C00112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59349" y="4423687"/>
            <a:ext cx="1664898" cy="332979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0AC6CF50-633D-A140-A151-7935EFCC03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04132" y="2482756"/>
            <a:ext cx="3909896" cy="107994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200" b="0" i="0" cap="none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D899A173-CCC5-F54A-8B86-ACC7BDF3DB6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704133" y="3730919"/>
            <a:ext cx="1986204" cy="470139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Date Here</a:t>
            </a:r>
          </a:p>
        </p:txBody>
      </p:sp>
    </p:spTree>
    <p:extLst>
      <p:ext uri="{BB962C8B-B14F-4D97-AF65-F5344CB8AC3E}">
        <p14:creationId xmlns:p14="http://schemas.microsoft.com/office/powerpoint/2010/main" val="522425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8B72B46-6429-0E46-8E54-B634382B24A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453" b="16454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D48185-66E5-5C4C-A14F-8DC7243BA51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33734" y="2208362"/>
            <a:ext cx="4178819" cy="2767336"/>
          </a:xfrm>
          <a:prstGeom prst="rect">
            <a:avLst/>
          </a:prstGeom>
        </p:spPr>
      </p:pic>
      <p:pic>
        <p:nvPicPr>
          <p:cNvPr id="11" name="Picture 10" descr="DW-Hor-REV.png">
            <a:extLst>
              <a:ext uri="{FF2B5EF4-FFF2-40B4-BE49-F238E27FC236}">
                <a16:creationId xmlns:a16="http://schemas.microsoft.com/office/drawing/2014/main" id="{18FF3130-9841-EA4B-8EF6-B2CC60DEA2E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59349" y="4423687"/>
            <a:ext cx="1664898" cy="332979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201081C-FB30-A248-8816-98B01965829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04132" y="2482756"/>
            <a:ext cx="3909896" cy="107994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200" b="0" i="0" cap="none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14586EF6-43EB-6147-84C8-7F229CC01A0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704133" y="3730919"/>
            <a:ext cx="1986204" cy="470139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April 22, 2020</a:t>
            </a:r>
          </a:p>
        </p:txBody>
      </p:sp>
    </p:spTree>
    <p:extLst>
      <p:ext uri="{BB962C8B-B14F-4D97-AF65-F5344CB8AC3E}">
        <p14:creationId xmlns:p14="http://schemas.microsoft.com/office/powerpoint/2010/main" val="2938595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0E89DA9-B23F-FA44-84A0-221ED33D172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975" b="190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17060C-6653-724C-80F2-4D5A91FDD98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25108" y="2208362"/>
            <a:ext cx="4192439" cy="2769080"/>
          </a:xfrm>
          <a:prstGeom prst="rect">
            <a:avLst/>
          </a:prstGeom>
        </p:spPr>
      </p:pic>
      <p:pic>
        <p:nvPicPr>
          <p:cNvPr id="10" name="Picture 9" descr="DW-Hor-REV.png">
            <a:extLst>
              <a:ext uri="{FF2B5EF4-FFF2-40B4-BE49-F238E27FC236}">
                <a16:creationId xmlns:a16="http://schemas.microsoft.com/office/drawing/2014/main" id="{589F8BB3-CC07-8044-81E6-AAB95300385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59349" y="4423687"/>
            <a:ext cx="1664898" cy="332979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2061FA70-FC1A-B64B-9608-73C19D93F37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04132" y="2482756"/>
            <a:ext cx="3909896" cy="107994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200" b="0" i="0" cap="none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F053482-20CE-D248-BE51-DDEAB7C71D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704133" y="3730919"/>
            <a:ext cx="1986204" cy="470139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April 22, 2020</a:t>
            </a:r>
          </a:p>
        </p:txBody>
      </p:sp>
    </p:spTree>
    <p:extLst>
      <p:ext uri="{BB962C8B-B14F-4D97-AF65-F5344CB8AC3E}">
        <p14:creationId xmlns:p14="http://schemas.microsoft.com/office/powerpoint/2010/main" val="1475638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2E32F74-8F93-7E4B-A9E0-D05A8165D13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150" b="9915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C55F6D-1A66-114D-AD67-6D55714B4F0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33736" y="2208362"/>
            <a:ext cx="4201064" cy="2751826"/>
          </a:xfrm>
          <a:prstGeom prst="rect">
            <a:avLst/>
          </a:prstGeom>
        </p:spPr>
      </p:pic>
      <p:pic>
        <p:nvPicPr>
          <p:cNvPr id="10" name="Picture 9" descr="DW-Hor-REV.png">
            <a:extLst>
              <a:ext uri="{FF2B5EF4-FFF2-40B4-BE49-F238E27FC236}">
                <a16:creationId xmlns:a16="http://schemas.microsoft.com/office/drawing/2014/main" id="{E7FB22C3-FF60-3149-912B-1A380E4CBE0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59349" y="4423687"/>
            <a:ext cx="1664898" cy="332979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F74842DB-2097-0D4B-B7B1-38899633ACB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04132" y="2482756"/>
            <a:ext cx="3909896" cy="107994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200" b="0" i="0" cap="none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FCB2DED5-F19C-BA49-9F58-5A5E3A5DD9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704133" y="3730919"/>
            <a:ext cx="1986204" cy="470139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April 22, 2020</a:t>
            </a:r>
          </a:p>
        </p:txBody>
      </p:sp>
    </p:spTree>
    <p:extLst>
      <p:ext uri="{BB962C8B-B14F-4D97-AF65-F5344CB8AC3E}">
        <p14:creationId xmlns:p14="http://schemas.microsoft.com/office/powerpoint/2010/main" val="4241316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D1FCFC4-0F04-2B49-BDBC-AD0D3B37FB5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660" t="1562" b="23881"/>
          <a:stretch/>
        </p:blipFill>
        <p:spPr>
          <a:xfrm>
            <a:off x="-111512" y="-1"/>
            <a:ext cx="12303513" cy="68580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7EF44A-6838-FF48-BAC4-853858BB409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33734" y="2208362"/>
            <a:ext cx="4178819" cy="2767336"/>
          </a:xfrm>
          <a:prstGeom prst="rect">
            <a:avLst/>
          </a:prstGeom>
        </p:spPr>
      </p:pic>
      <p:pic>
        <p:nvPicPr>
          <p:cNvPr id="11" name="Picture 10" descr="DW-Hor-REV.png">
            <a:extLst>
              <a:ext uri="{FF2B5EF4-FFF2-40B4-BE49-F238E27FC236}">
                <a16:creationId xmlns:a16="http://schemas.microsoft.com/office/drawing/2014/main" id="{B3FFD62D-2D13-7A44-BA42-926CF0CD411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59349" y="4423687"/>
            <a:ext cx="1664898" cy="332979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4DA18914-8923-214C-994A-296593AB38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04132" y="2482756"/>
            <a:ext cx="3909896" cy="107994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200" b="0" i="0" cap="none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C11B34A6-0001-2E45-8013-ABA3A61F25C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704133" y="3730919"/>
            <a:ext cx="1986204" cy="470139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April 22, 2020</a:t>
            </a:r>
          </a:p>
        </p:txBody>
      </p:sp>
    </p:spTree>
    <p:extLst>
      <p:ext uri="{BB962C8B-B14F-4D97-AF65-F5344CB8AC3E}">
        <p14:creationId xmlns:p14="http://schemas.microsoft.com/office/powerpoint/2010/main" val="3812225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2039CFF-E967-AF48-AE89-BB999529776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6828" b="7888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E5C6946-AF02-3E4F-8E63-8F0787C0DAC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42361" y="2216988"/>
            <a:ext cx="4166559" cy="2750085"/>
          </a:xfrm>
          <a:prstGeom prst="rect">
            <a:avLst/>
          </a:prstGeom>
        </p:spPr>
      </p:pic>
      <p:pic>
        <p:nvPicPr>
          <p:cNvPr id="11" name="Picture 10" descr="DW-Hor-REV.png">
            <a:extLst>
              <a:ext uri="{FF2B5EF4-FFF2-40B4-BE49-F238E27FC236}">
                <a16:creationId xmlns:a16="http://schemas.microsoft.com/office/drawing/2014/main" id="{4FF664C0-0FB1-774D-9387-9CAEE85B372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59349" y="4423687"/>
            <a:ext cx="1664898" cy="332979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EC043FC-D757-B24E-A49B-11CEC8B1F3A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04132" y="2482756"/>
            <a:ext cx="3909896" cy="107994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200" b="0" i="0" cap="none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C9E55DC6-B1CA-FF44-B0A2-4316FD19215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704133" y="3730919"/>
            <a:ext cx="1986204" cy="470139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April 22, 2020</a:t>
            </a:r>
          </a:p>
        </p:txBody>
      </p:sp>
    </p:spTree>
    <p:extLst>
      <p:ext uri="{BB962C8B-B14F-4D97-AF65-F5344CB8AC3E}">
        <p14:creationId xmlns:p14="http://schemas.microsoft.com/office/powerpoint/2010/main" val="398397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E3B45AB-4403-EA4F-BF7D-53397C4D55B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446" b="9512"/>
          <a:stretch/>
        </p:blipFill>
        <p:spPr>
          <a:xfrm>
            <a:off x="1" y="-1"/>
            <a:ext cx="12192000" cy="68580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9EF329-10FB-C947-8683-A00469917F2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25108" y="2208362"/>
            <a:ext cx="4192439" cy="2769080"/>
          </a:xfrm>
          <a:prstGeom prst="rect">
            <a:avLst/>
          </a:prstGeom>
        </p:spPr>
      </p:pic>
      <p:pic>
        <p:nvPicPr>
          <p:cNvPr id="11" name="Picture 10" descr="DW-Hor-REV.png">
            <a:extLst>
              <a:ext uri="{FF2B5EF4-FFF2-40B4-BE49-F238E27FC236}">
                <a16:creationId xmlns:a16="http://schemas.microsoft.com/office/drawing/2014/main" id="{E5F468A7-C13C-E841-A3D2-2610334B9E8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59349" y="4423687"/>
            <a:ext cx="1664898" cy="332979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61261FFB-6E6C-BE4F-BFA1-000C103A5E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04132" y="2482756"/>
            <a:ext cx="3909896" cy="107994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200" b="0" i="0" cap="none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6075DCAE-85A1-DE41-98D5-A2A25597CB6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704133" y="3730919"/>
            <a:ext cx="1986204" cy="470139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April 22, 2020</a:t>
            </a:r>
          </a:p>
        </p:txBody>
      </p:sp>
    </p:spTree>
    <p:extLst>
      <p:ext uri="{BB962C8B-B14F-4D97-AF65-F5344CB8AC3E}">
        <p14:creationId xmlns:p14="http://schemas.microsoft.com/office/powerpoint/2010/main" val="1890263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316C2D1-432D-F44A-AE00-21C9236C7EE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3266" b="11707"/>
          <a:stretch/>
        </p:blipFill>
        <p:spPr>
          <a:xfrm>
            <a:off x="0" y="1"/>
            <a:ext cx="12192001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8F1D26F-1EC8-2640-A540-9686BA7F8C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34721" y="2208362"/>
            <a:ext cx="4178819" cy="2767336"/>
          </a:xfrm>
          <a:prstGeom prst="rect">
            <a:avLst/>
          </a:prstGeom>
        </p:spPr>
      </p:pic>
      <p:pic>
        <p:nvPicPr>
          <p:cNvPr id="11" name="Picture 10" descr="DW-Hor-REV.png">
            <a:extLst>
              <a:ext uri="{FF2B5EF4-FFF2-40B4-BE49-F238E27FC236}">
                <a16:creationId xmlns:a16="http://schemas.microsoft.com/office/drawing/2014/main" id="{A84DC5BF-92C6-3141-9ECB-9213A5983D7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0336" y="4423687"/>
            <a:ext cx="1664898" cy="332979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854A5369-9D0A-B945-8A56-316AB752410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05119" y="2482756"/>
            <a:ext cx="3909896" cy="107994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200" b="0" i="0" cap="none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1DDD68F2-7177-9840-A4D8-22577441FF6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705120" y="3730919"/>
            <a:ext cx="1986204" cy="470139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April 22, 2020</a:t>
            </a:r>
          </a:p>
        </p:txBody>
      </p:sp>
    </p:spTree>
    <p:extLst>
      <p:ext uri="{BB962C8B-B14F-4D97-AF65-F5344CB8AC3E}">
        <p14:creationId xmlns:p14="http://schemas.microsoft.com/office/powerpoint/2010/main" val="3020269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0B5E687-03F2-E64C-BA9E-6D80C52FC84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3384" b="11616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D4F0572-8AB0-3841-ACD2-6020EFDBCB0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42360" y="2216988"/>
            <a:ext cx="4166559" cy="2750085"/>
          </a:xfrm>
          <a:prstGeom prst="rect">
            <a:avLst/>
          </a:prstGeom>
        </p:spPr>
      </p:pic>
      <p:pic>
        <p:nvPicPr>
          <p:cNvPr id="11" name="Picture 10" descr="DW-Hor-REV.png">
            <a:extLst>
              <a:ext uri="{FF2B5EF4-FFF2-40B4-BE49-F238E27FC236}">
                <a16:creationId xmlns:a16="http://schemas.microsoft.com/office/drawing/2014/main" id="{16A9C64B-7C85-8D4F-BB30-56E6DE147A7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59348" y="4423687"/>
            <a:ext cx="1664898" cy="332979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59D6C295-82C7-4E4D-91AD-CF05C88BA5B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04131" y="2482756"/>
            <a:ext cx="3909896" cy="107994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200" b="0" i="0" cap="none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63ABD9DD-4A73-754F-9528-4B83365F182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704132" y="3730919"/>
            <a:ext cx="1986204" cy="470139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April 22, 2020</a:t>
            </a:r>
          </a:p>
        </p:txBody>
      </p:sp>
    </p:spTree>
    <p:extLst>
      <p:ext uri="{BB962C8B-B14F-4D97-AF65-F5344CB8AC3E}">
        <p14:creationId xmlns:p14="http://schemas.microsoft.com/office/powerpoint/2010/main" val="1210373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478891B-7E7D-8F42-B4E4-B5A2E19E043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591" t="14724" b="12195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1562FB4-8B22-5642-89FA-CEE9E22A263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33736" y="2018581"/>
            <a:ext cx="4201064" cy="2751826"/>
          </a:xfrm>
          <a:prstGeom prst="rect">
            <a:avLst/>
          </a:prstGeom>
        </p:spPr>
      </p:pic>
      <p:pic>
        <p:nvPicPr>
          <p:cNvPr id="11" name="Picture 10" descr="DW-Hor-REV.png">
            <a:extLst>
              <a:ext uri="{FF2B5EF4-FFF2-40B4-BE49-F238E27FC236}">
                <a16:creationId xmlns:a16="http://schemas.microsoft.com/office/drawing/2014/main" id="{5246A073-ADF6-134D-832C-6533CC445D1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59349" y="4423687"/>
            <a:ext cx="1664898" cy="332979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81F7FF41-E166-5C42-AC73-5925A6D421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04132" y="2482756"/>
            <a:ext cx="3909896" cy="107994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200" b="0" i="0" cap="none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4D39B2B9-75C5-1644-A427-2D21AE4417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704133" y="3730919"/>
            <a:ext cx="1986204" cy="470139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April 22, 2020</a:t>
            </a:r>
          </a:p>
        </p:txBody>
      </p:sp>
    </p:spTree>
    <p:extLst>
      <p:ext uri="{BB962C8B-B14F-4D97-AF65-F5344CB8AC3E}">
        <p14:creationId xmlns:p14="http://schemas.microsoft.com/office/powerpoint/2010/main" val="2165386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A8059F3-7737-0646-A312-3CBC8DBDDD3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1097" b="13049"/>
          <a:stretch/>
        </p:blipFill>
        <p:spPr>
          <a:xfrm>
            <a:off x="1" y="0"/>
            <a:ext cx="12192000" cy="69360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D33157A-729A-AA43-9C46-305F3FD68F5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42361" y="2216988"/>
            <a:ext cx="4166559" cy="2750085"/>
          </a:xfrm>
          <a:prstGeom prst="rect">
            <a:avLst/>
          </a:prstGeom>
        </p:spPr>
      </p:pic>
      <p:pic>
        <p:nvPicPr>
          <p:cNvPr id="11" name="Picture 10" descr="DW-Hor-REV.png">
            <a:extLst>
              <a:ext uri="{FF2B5EF4-FFF2-40B4-BE49-F238E27FC236}">
                <a16:creationId xmlns:a16="http://schemas.microsoft.com/office/drawing/2014/main" id="{B74D7F28-B879-EB4D-9EA4-4FB43F909F5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59349" y="4423687"/>
            <a:ext cx="1664898" cy="332979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3038ACA0-5915-B948-8EB8-6EB969E1F5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04132" y="2482756"/>
            <a:ext cx="3909896" cy="107994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200" b="0" i="0" cap="none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0E010190-93D7-C247-A707-A44A7000D0D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704133" y="3730919"/>
            <a:ext cx="1986204" cy="470139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April 22, 2020</a:t>
            </a:r>
          </a:p>
        </p:txBody>
      </p:sp>
    </p:spTree>
    <p:extLst>
      <p:ext uri="{BB962C8B-B14F-4D97-AF65-F5344CB8AC3E}">
        <p14:creationId xmlns:p14="http://schemas.microsoft.com/office/powerpoint/2010/main" val="3816092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6A5D52C-E92E-B248-857F-C9B15ED4251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098" b="1890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A1F030D-9D44-4947-996A-77CF4075D05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3297" y="2208362"/>
            <a:ext cx="4178819" cy="2767336"/>
          </a:xfrm>
          <a:prstGeom prst="rect">
            <a:avLst/>
          </a:prstGeom>
        </p:spPr>
      </p:pic>
      <p:pic>
        <p:nvPicPr>
          <p:cNvPr id="11" name="Picture 10" descr="DW-Hor-REV.png">
            <a:extLst>
              <a:ext uri="{FF2B5EF4-FFF2-40B4-BE49-F238E27FC236}">
                <a16:creationId xmlns:a16="http://schemas.microsoft.com/office/drawing/2014/main" id="{A4A4CFCF-4A94-0443-A829-4653627CE26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8908" y="4423687"/>
            <a:ext cx="1664898" cy="332979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146192E-C583-7845-8316-5E7B3E054D5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3691" y="2482756"/>
            <a:ext cx="3909896" cy="107994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200" b="0" i="0" cap="none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13000DCA-555E-FB49-8CC3-25BD3D9E2D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3692" y="3730919"/>
            <a:ext cx="1986204" cy="470139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April 22, 2020</a:t>
            </a:r>
          </a:p>
        </p:txBody>
      </p:sp>
    </p:spTree>
    <p:extLst>
      <p:ext uri="{BB962C8B-B14F-4D97-AF65-F5344CB8AC3E}">
        <p14:creationId xmlns:p14="http://schemas.microsoft.com/office/powerpoint/2010/main" val="4116560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A18BB57-6D67-6F4D-AF88-93785BDF90C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1890" b="13109"/>
          <a:stretch/>
        </p:blipFill>
        <p:spPr>
          <a:xfrm>
            <a:off x="-2" y="0"/>
            <a:ext cx="12192001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E567E7F-3159-9944-B5D9-F4988CCA24A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3299" y="2208362"/>
            <a:ext cx="4201064" cy="2751826"/>
          </a:xfrm>
          <a:prstGeom prst="rect">
            <a:avLst/>
          </a:prstGeom>
        </p:spPr>
      </p:pic>
      <p:pic>
        <p:nvPicPr>
          <p:cNvPr id="11" name="Picture 10" descr="DW-Hor-REV.png">
            <a:extLst>
              <a:ext uri="{FF2B5EF4-FFF2-40B4-BE49-F238E27FC236}">
                <a16:creationId xmlns:a16="http://schemas.microsoft.com/office/drawing/2014/main" id="{D12A0A1C-DDF6-3644-9F34-F45959A70ED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8908" y="4423687"/>
            <a:ext cx="1664898" cy="332979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776368C0-E387-924E-A799-D1035AB2B82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3691" y="2482756"/>
            <a:ext cx="3909896" cy="107994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200" b="0" i="0" cap="none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00A7E319-9F92-5D4C-93F0-87E80E59E8F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3692" y="3730919"/>
            <a:ext cx="1986204" cy="470139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April 22, 2020</a:t>
            </a:r>
          </a:p>
        </p:txBody>
      </p:sp>
    </p:spTree>
    <p:extLst>
      <p:ext uri="{BB962C8B-B14F-4D97-AF65-F5344CB8AC3E}">
        <p14:creationId xmlns:p14="http://schemas.microsoft.com/office/powerpoint/2010/main" val="1418730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AE8AEEF-B17B-4C49-9773-35EE1B58E53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" r="-3" b="27217"/>
          <a:stretch/>
        </p:blipFill>
        <p:spPr>
          <a:xfrm>
            <a:off x="0" y="1527295"/>
            <a:ext cx="12192000" cy="16731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-8520" y="1518250"/>
            <a:ext cx="12192000" cy="1682150"/>
          </a:xfrm>
        </p:spPr>
        <p:txBody>
          <a:bodyPr anchor="ctr" anchorCtr="0">
            <a:normAutofit/>
          </a:bodyPr>
          <a:lstStyle>
            <a:lvl1pPr algn="ctr">
              <a:lnSpc>
                <a:spcPct val="80000"/>
              </a:lnSpc>
              <a:defRPr sz="3200" b="0" i="0" cap="none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Section Divider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F620C1-59B6-114D-9601-97501F2EC92A}"/>
              </a:ext>
            </a:extLst>
          </p:cNvPr>
          <p:cNvSpPr/>
          <p:nvPr/>
        </p:nvSpPr>
        <p:spPr>
          <a:xfrm>
            <a:off x="0" y="1"/>
            <a:ext cx="12192000" cy="84538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648893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E52F96E-532A-4D4A-B58E-BE30C4AFEC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805" b="23814"/>
          <a:stretch/>
        </p:blipFill>
        <p:spPr>
          <a:xfrm>
            <a:off x="0" y="1505415"/>
            <a:ext cx="12192000" cy="169498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-8520" y="1518250"/>
            <a:ext cx="12192000" cy="1682150"/>
          </a:xfrm>
        </p:spPr>
        <p:txBody>
          <a:bodyPr anchor="ctr" anchorCtr="0">
            <a:normAutofit/>
          </a:bodyPr>
          <a:lstStyle>
            <a:lvl1pPr algn="ctr">
              <a:lnSpc>
                <a:spcPct val="80000"/>
              </a:lnSpc>
              <a:defRPr sz="3200" b="0" i="0" cap="none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Section Divider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F620C1-59B6-114D-9601-97501F2EC92A}"/>
              </a:ext>
            </a:extLst>
          </p:cNvPr>
          <p:cNvSpPr/>
          <p:nvPr/>
        </p:nvSpPr>
        <p:spPr>
          <a:xfrm>
            <a:off x="0" y="-181153"/>
            <a:ext cx="12192000" cy="84538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806488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40B8076-985C-0C4B-8F12-1599C89807E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7849"/>
          <a:stretch/>
        </p:blipFill>
        <p:spPr>
          <a:xfrm>
            <a:off x="0" y="1532347"/>
            <a:ext cx="12192000" cy="1668054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A59FDA6-CDFB-344A-A707-4B1F2B5004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8520" y="1518250"/>
            <a:ext cx="12192000" cy="1682150"/>
          </a:xfrm>
        </p:spPr>
        <p:txBody>
          <a:bodyPr anchor="ctr" anchorCtr="0">
            <a:normAutofit/>
          </a:bodyPr>
          <a:lstStyle>
            <a:lvl1pPr algn="ctr">
              <a:lnSpc>
                <a:spcPct val="80000"/>
              </a:lnSpc>
              <a:defRPr sz="3200" b="0" i="0" cap="none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Section Divider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E37239-D172-DB4B-A859-807471FD975B}"/>
              </a:ext>
            </a:extLst>
          </p:cNvPr>
          <p:cNvSpPr/>
          <p:nvPr/>
        </p:nvSpPr>
        <p:spPr>
          <a:xfrm>
            <a:off x="0" y="-181153"/>
            <a:ext cx="12192000" cy="84538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824484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D8619C7-D5D7-314E-A619-8046A2D0B0C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7078"/>
          <a:stretch/>
        </p:blipFill>
        <p:spPr>
          <a:xfrm>
            <a:off x="-1" y="1518670"/>
            <a:ext cx="12222857" cy="168173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A59FDA6-CDFB-344A-A707-4B1F2B5004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8520" y="1518250"/>
            <a:ext cx="12192000" cy="1682150"/>
          </a:xfrm>
        </p:spPr>
        <p:txBody>
          <a:bodyPr anchor="ctr" anchorCtr="0">
            <a:normAutofit/>
          </a:bodyPr>
          <a:lstStyle>
            <a:lvl1pPr algn="ctr">
              <a:lnSpc>
                <a:spcPct val="80000"/>
              </a:lnSpc>
              <a:defRPr sz="3200" b="0" i="0" cap="none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Section Divider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E37239-D172-DB4B-A859-807471FD975B}"/>
              </a:ext>
            </a:extLst>
          </p:cNvPr>
          <p:cNvSpPr/>
          <p:nvPr/>
        </p:nvSpPr>
        <p:spPr>
          <a:xfrm>
            <a:off x="0" y="-172528"/>
            <a:ext cx="12192000" cy="84538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910313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666B5F-C0A0-4944-8420-D5B82C1B67A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6272"/>
          <a:stretch/>
        </p:blipFill>
        <p:spPr>
          <a:xfrm>
            <a:off x="0" y="1518669"/>
            <a:ext cx="12192000" cy="167058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A59FDA6-CDFB-344A-A707-4B1F2B5004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8520" y="1518250"/>
            <a:ext cx="12192000" cy="1682150"/>
          </a:xfrm>
        </p:spPr>
        <p:txBody>
          <a:bodyPr anchor="ctr" anchorCtr="0">
            <a:normAutofit/>
          </a:bodyPr>
          <a:lstStyle>
            <a:lvl1pPr algn="ctr">
              <a:lnSpc>
                <a:spcPct val="80000"/>
              </a:lnSpc>
              <a:defRPr sz="3200" b="0" i="0" cap="none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Section Divider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E37239-D172-DB4B-A859-807471FD975B}"/>
              </a:ext>
            </a:extLst>
          </p:cNvPr>
          <p:cNvSpPr/>
          <p:nvPr/>
        </p:nvSpPr>
        <p:spPr>
          <a:xfrm>
            <a:off x="0" y="-163902"/>
            <a:ext cx="12192000" cy="84538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946031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114" y="564424"/>
            <a:ext cx="11071821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4619" y="1739024"/>
            <a:ext cx="11076317" cy="4599288"/>
          </a:xfrm>
        </p:spPr>
        <p:txBody>
          <a:bodyPr/>
          <a:lstStyle>
            <a:lvl1pPr>
              <a:spcBef>
                <a:spcPts val="1176"/>
              </a:spcBef>
              <a:defRPr/>
            </a:lvl1pPr>
            <a:lvl2pPr>
              <a:spcBef>
                <a:spcPts val="1176"/>
              </a:spcBef>
              <a:defRPr/>
            </a:lvl2pPr>
            <a:lvl3pPr>
              <a:spcBef>
                <a:spcPts val="1176"/>
              </a:spcBef>
              <a:defRPr/>
            </a:lvl3pPr>
            <a:lvl4pPr>
              <a:spcBef>
                <a:spcPts val="1176"/>
              </a:spcBef>
              <a:defRPr/>
            </a:lvl4pPr>
            <a:lvl5pPr>
              <a:spcBef>
                <a:spcPts val="1176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4851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114" y="575575"/>
            <a:ext cx="11071821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226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2426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5963B6D-941A-884A-899A-9131B58C2DF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240542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33" y="575720"/>
            <a:ext cx="10869545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100235" y="1604964"/>
            <a:ext cx="5383144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13834" y="1604964"/>
            <a:ext cx="4881849" cy="4448175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928614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53542" y="1604964"/>
            <a:ext cx="10829837" cy="1484710"/>
          </a:xfrm>
        </p:spPr>
        <p:txBody>
          <a:bodyPr/>
          <a:lstStyle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53542" y="3438748"/>
            <a:ext cx="3317213" cy="261439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4446059" y="3438748"/>
            <a:ext cx="3317213" cy="261439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8166166" y="3438748"/>
            <a:ext cx="3317213" cy="261439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653542" y="274638"/>
            <a:ext cx="10829837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00390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9114" y="497518"/>
            <a:ext cx="1107182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4619" y="1672118"/>
            <a:ext cx="11076317" cy="45992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8" name="Picture 7" descr="DW-Hor-REV.png"/>
          <p:cNvPicPr>
            <a:picLocks noChangeAspect="1"/>
          </p:cNvPicPr>
          <p:nvPr/>
        </p:nvPicPr>
        <p:blipFill>
          <a:blip r:embed="rId2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2136" y="103512"/>
            <a:ext cx="2001328" cy="3001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17E787-D099-0E43-B500-3D89B82CF2AC}"/>
              </a:ext>
            </a:extLst>
          </p:cNvPr>
          <p:cNvPicPr>
            <a:picLocks noChangeAspect="1"/>
          </p:cNvPicPr>
          <p:nvPr/>
        </p:nvPicPr>
        <p:blipFill rotWithShape="1">
          <a:blip r:embed="rId2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5790"/>
          <a:stretch/>
        </p:blipFill>
        <p:spPr>
          <a:xfrm>
            <a:off x="0" y="0"/>
            <a:ext cx="12184294" cy="552091"/>
          </a:xfrm>
          <a:prstGeom prst="rect">
            <a:avLst/>
          </a:prstGeom>
        </p:spPr>
      </p:pic>
      <p:pic>
        <p:nvPicPr>
          <p:cNvPr id="9" name="Picture 8" descr="DW-Hor-REV.png">
            <a:extLst>
              <a:ext uri="{FF2B5EF4-FFF2-40B4-BE49-F238E27FC236}">
                <a16:creationId xmlns:a16="http://schemas.microsoft.com/office/drawing/2014/main" id="{C5900D96-7B12-CF42-A8E2-01D60C87B581}"/>
              </a:ext>
            </a:extLst>
          </p:cNvPr>
          <p:cNvPicPr>
            <a:picLocks noChangeAspect="1"/>
          </p:cNvPicPr>
          <p:nvPr/>
        </p:nvPicPr>
        <p:blipFill>
          <a:blip r:embed="rId2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08566" y="138018"/>
            <a:ext cx="1500996" cy="30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55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2800" b="0" i="0" kern="1200">
          <a:solidFill>
            <a:srgbClr val="191513"/>
          </a:solidFill>
          <a:latin typeface="Arial-BoldMT"/>
          <a:ea typeface="+mj-ea"/>
          <a:cs typeface="Arial-BoldMT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Clr>
          <a:schemeClr val="tx1"/>
        </a:buClr>
        <a:buFontTx/>
        <a:buNone/>
        <a:defRPr sz="2400" b="0" i="0" kern="1200">
          <a:solidFill>
            <a:srgbClr val="007DBA"/>
          </a:solidFill>
          <a:latin typeface="Arial"/>
          <a:ea typeface="+mn-ea"/>
          <a:cs typeface="Arial"/>
        </a:defRPr>
      </a:lvl1pPr>
      <a:lvl2pPr marL="342900" indent="-317500" algn="l" defTabSz="457200" rtl="0" eaLnBrk="1" latinLnBrk="0" hangingPunct="1">
        <a:spcBef>
          <a:spcPct val="20000"/>
        </a:spcBef>
        <a:buClr>
          <a:srgbClr val="80BE00"/>
        </a:buClr>
        <a:buFont typeface="Arial" panose="020B0604020202020204" pitchFamily="34" charset="0"/>
        <a:buChar char="•"/>
        <a:tabLst/>
        <a:defRPr sz="1800" b="0" i="0" kern="1200">
          <a:solidFill>
            <a:srgbClr val="191513"/>
          </a:solidFill>
          <a:latin typeface="Arial"/>
          <a:ea typeface="+mn-ea"/>
          <a:cs typeface="Arial"/>
        </a:defRPr>
      </a:lvl2pPr>
      <a:lvl3pPr marL="685800" indent="-317500" algn="l" defTabSz="457200" rtl="0" eaLnBrk="1" latinLnBrk="0" hangingPunct="1">
        <a:spcBef>
          <a:spcPct val="20000"/>
        </a:spcBef>
        <a:buClr>
          <a:srgbClr val="80BE00"/>
        </a:buClr>
        <a:buFont typeface="Arial" panose="020B0604020202020204" pitchFamily="34" charset="0"/>
        <a:buChar char="•"/>
        <a:tabLst/>
        <a:defRPr sz="1600">
          <a:solidFill>
            <a:srgbClr val="191513"/>
          </a:solidFill>
        </a:defRPr>
      </a:lvl3pPr>
      <a:lvl4pPr marL="917575" indent="-231775" algn="l" defTabSz="457200" rtl="0" eaLnBrk="1" latinLnBrk="0" hangingPunct="1">
        <a:spcBef>
          <a:spcPct val="20000"/>
        </a:spcBef>
        <a:buClr>
          <a:srgbClr val="80BE00"/>
        </a:buClr>
        <a:buFont typeface="Arial" panose="020B0604020202020204" pitchFamily="34" charset="0"/>
        <a:buChar char="•"/>
        <a:tabLst/>
        <a:defRPr sz="1400" b="0" i="0" kern="1200">
          <a:solidFill>
            <a:srgbClr val="191513"/>
          </a:solidFill>
          <a:latin typeface="Arial"/>
          <a:ea typeface="+mn-ea"/>
          <a:cs typeface="Arial"/>
        </a:defRPr>
      </a:lvl4pPr>
      <a:lvl5pPr marL="1200150" indent="-214313" algn="l" defTabSz="457200" rtl="0" eaLnBrk="1" latinLnBrk="0" hangingPunct="1">
        <a:spcBef>
          <a:spcPct val="20000"/>
        </a:spcBef>
        <a:buClr>
          <a:srgbClr val="80BE00"/>
        </a:buClr>
        <a:buFont typeface="Arial" panose="020B0604020202020204" pitchFamily="34" charset="0"/>
        <a:buChar char="•"/>
        <a:tabLst/>
        <a:defRPr sz="1400" b="0" i="0" kern="1200">
          <a:solidFill>
            <a:srgbClr val="191513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173F6942-4D3D-9BCA-DB33-B66EF9F8B8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04132" y="2482756"/>
            <a:ext cx="3909896" cy="1079947"/>
          </a:xfrm>
        </p:spPr>
        <p:txBody>
          <a:bodyPr>
            <a:normAutofit fontScale="90000"/>
          </a:bodyPr>
          <a:lstStyle/>
          <a:p>
            <a:r>
              <a:rPr lang="en-US" dirty="0"/>
              <a:t>TOC and Alkalinity soft-sensors for Foothills WTP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2F8EA8DB-65E0-8056-92E4-F13DCBB76C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04133" y="3730919"/>
            <a:ext cx="1986204" cy="470139"/>
          </a:xfrm>
        </p:spPr>
        <p:txBody>
          <a:bodyPr/>
          <a:lstStyle/>
          <a:p>
            <a:r>
              <a:rPr lang="en-US" dirty="0"/>
              <a:t>July 2026</a:t>
            </a:r>
          </a:p>
        </p:txBody>
      </p:sp>
    </p:spTree>
    <p:extLst>
      <p:ext uri="{BB962C8B-B14F-4D97-AF65-F5344CB8AC3E}">
        <p14:creationId xmlns:p14="http://schemas.microsoft.com/office/powerpoint/2010/main" val="2649434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292B8-03F1-A9BD-F721-4DA8108F4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6D81C-2637-F840-757F-150533EA2C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066" y="1602742"/>
            <a:ext cx="4934468" cy="4599288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Craig mentioned Ed and Tad subscribe to USGS WQ alerts from the gage above </a:t>
            </a:r>
            <a:r>
              <a:rPr lang="en-US" sz="2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Strontia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Reservoir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Gage currently collects turbidity, temperature, conductivity, pH, and DO in 15 min intervals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Hypothesis: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I can use the gage data to predict future TOC at Foothills influent, thus acting as an early warning system for WQ events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A8112D-BD04-9929-1BAC-84A16BF84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6862" y="1875306"/>
            <a:ext cx="5952372" cy="432672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DA42105-070B-97CB-5CCA-882A961BE861}"/>
              </a:ext>
            </a:extLst>
          </p:cNvPr>
          <p:cNvSpPr/>
          <p:nvPr/>
        </p:nvSpPr>
        <p:spPr>
          <a:xfrm>
            <a:off x="8595360" y="4178808"/>
            <a:ext cx="374904" cy="4389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026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D081B-BCD9-48D2-63AC-A4EC1700A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42905-66C3-E518-D684-480AE9DD7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3FA09-A36E-15BF-E025-C9BE4BD9E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35" y="1694287"/>
            <a:ext cx="4837981" cy="4599289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Write Python script to pull USGS WQ data from the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Strontia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gage,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available beginning 4/1/2022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Write Python script to pull CO DNR/DWR streamflow gage data from above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Strontia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Write Python script to pull NOAA precipitation data from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Strontia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weather station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Clean data and create “engineered features” to train a random forest ML model to predict TOC. Test the model using unseen data to evaluate performance.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0F1373-21F1-7946-B98B-60EAFAFE7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0136" y="1830241"/>
            <a:ext cx="5768129" cy="441685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8A91FBF-FEC1-0A7C-EFEF-C4C8B17D8B60}"/>
              </a:ext>
            </a:extLst>
          </p:cNvPr>
          <p:cNvSpPr/>
          <p:nvPr/>
        </p:nvSpPr>
        <p:spPr>
          <a:xfrm>
            <a:off x="6528816" y="5111496"/>
            <a:ext cx="374904" cy="4389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5F0CB8-620A-A031-05DE-22B6BA4E6FD4}"/>
              </a:ext>
            </a:extLst>
          </p:cNvPr>
          <p:cNvSpPr/>
          <p:nvPr/>
        </p:nvSpPr>
        <p:spPr>
          <a:xfrm>
            <a:off x="10762488" y="2103120"/>
            <a:ext cx="374904" cy="4389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358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EB4BD-26CB-B2D3-F1D3-3603BBCCD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Random Forest? i.e. many “decision trees”</a:t>
            </a:r>
          </a:p>
        </p:txBody>
      </p:sp>
      <p:pic>
        <p:nvPicPr>
          <p:cNvPr id="1026" name="Picture 2" descr="The Ultimate Guide to Random Forest Regression">
            <a:extLst>
              <a:ext uri="{FF2B5EF4-FFF2-40B4-BE49-F238E27FC236}">
                <a16:creationId xmlns:a16="http://schemas.microsoft.com/office/drawing/2014/main" id="{E158DAB8-5561-36FC-D2B8-D52B77CF69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393" y="2229440"/>
            <a:ext cx="5371381" cy="3569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he Ultimate Guide to Random Forest Regression">
            <a:extLst>
              <a:ext uri="{FF2B5EF4-FFF2-40B4-BE49-F238E27FC236}">
                <a16:creationId xmlns:a16="http://schemas.microsoft.com/office/drawing/2014/main" id="{FA16CD24-AFEE-938A-D010-EF31A7DC0B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226" y="2348844"/>
            <a:ext cx="6342242" cy="3161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674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3D430-294E-3AB9-B4C1-44EDF7BD8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114" y="564424"/>
            <a:ext cx="11071821" cy="1143000"/>
          </a:xfrm>
        </p:spPr>
        <p:txBody>
          <a:bodyPr anchor="ctr">
            <a:normAutofit/>
          </a:bodyPr>
          <a:lstStyle/>
          <a:p>
            <a:r>
              <a:rPr lang="en-US" dirty="0"/>
              <a:t>What is a train-test split?</a:t>
            </a:r>
          </a:p>
        </p:txBody>
      </p:sp>
      <p:pic>
        <p:nvPicPr>
          <p:cNvPr id="2050" name="Picture 2" descr="Train Test Split: What it Means and How to Use It | Built In">
            <a:extLst>
              <a:ext uri="{FF2B5EF4-FFF2-40B4-BE49-F238E27FC236}">
                <a16:creationId xmlns:a16="http://schemas.microsoft.com/office/drawing/2014/main" id="{DB71FFD4-7554-33E0-574B-68ADD321D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24619" y="2114158"/>
            <a:ext cx="11076317" cy="3849020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1054682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71132-07F0-87F9-272C-409A25FDE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B31A5-55A6-07C9-9780-E22378E93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113" y="1482992"/>
            <a:ext cx="11071822" cy="455455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Shifted or “lagged” the USGS and DNR WQ and flow data by 4 days relative to Foothills influent TOC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Converted month to radians – help model understand January is “close” to December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Calculated rolling 7-day average for flow – detect rising and falling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Calculated rolling 3-day average for turbidity – detect rising and falling, reduce noise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Calculated rolling 7-day average for precipitation – detect rising and falling, large precipitation events/increased runoff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Calculated flow * turbidity for a “loading” parameter </a:t>
            </a:r>
          </a:p>
        </p:txBody>
      </p:sp>
    </p:spTree>
    <p:extLst>
      <p:ext uri="{BB962C8B-B14F-4D97-AF65-F5344CB8AC3E}">
        <p14:creationId xmlns:p14="http://schemas.microsoft.com/office/powerpoint/2010/main" val="463362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547E7-754D-B768-A63A-BCD2BE0DC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975" y="787848"/>
            <a:ext cx="3294245" cy="1143000"/>
          </a:xfrm>
        </p:spPr>
        <p:txBody>
          <a:bodyPr/>
          <a:lstStyle/>
          <a:p>
            <a:r>
              <a:rPr lang="en-US" dirty="0"/>
              <a:t>Correlation matrix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699C07-98AB-BDE3-EC1F-95E11F630C68}"/>
              </a:ext>
            </a:extLst>
          </p:cNvPr>
          <p:cNvSpPr txBox="1"/>
          <p:nvPr/>
        </p:nvSpPr>
        <p:spPr>
          <a:xfrm>
            <a:off x="372617" y="1957680"/>
            <a:ext cx="1904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EE209F-4725-C255-D023-F3834416B18D}"/>
              </a:ext>
            </a:extLst>
          </p:cNvPr>
          <p:cNvSpPr txBox="1"/>
          <p:nvPr/>
        </p:nvSpPr>
        <p:spPr>
          <a:xfrm>
            <a:off x="286353" y="2011344"/>
            <a:ext cx="6899507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Examined spearman correlations of features as a starting point for choosing model predictors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Created a series of models with combinations of the highest correlated features until I landed upon the model with the best results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Can continue to tweak as more data becomes available!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66A04DB-C6EE-3B07-C36D-5FAF72AC55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7572" y="972152"/>
            <a:ext cx="4408892" cy="5511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802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66DD8-B43F-1AE3-E65C-59A58C2DE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257" y="644635"/>
            <a:ext cx="11071821" cy="1143000"/>
          </a:xfrm>
        </p:spPr>
        <p:txBody>
          <a:bodyPr/>
          <a:lstStyle/>
          <a:p>
            <a:r>
              <a:rPr lang="en-US" dirty="0"/>
              <a:t>Finalized model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CCF92F-7125-9AE2-8CE7-A06A136965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27083" y="2366041"/>
            <a:ext cx="7778205" cy="2472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16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AC4ED-E92D-713D-A44B-1DD92BAE7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32BB2E-6464-0B77-2C30-741E2EF0C1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9114" y="3302635"/>
            <a:ext cx="6716478" cy="33582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E253B2-CF52-1A0C-44CD-025ED34B1FAC}"/>
              </a:ext>
            </a:extLst>
          </p:cNvPr>
          <p:cNvSpPr txBox="1"/>
          <p:nvPr/>
        </p:nvSpPr>
        <p:spPr>
          <a:xfrm>
            <a:off x="729114" y="1454235"/>
            <a:ext cx="1107182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Through feature engineering and model parameter tuning, achieved an R^2 of 0.59, RMSE of 0.29 mg/L, and MAPE of 9.52%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Prioritized accuracy of peaks over raw R^2 – stability of TOC most of the year makes it relatively powerful to just predict the mean. Model is not as useful for day-to-day operation.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Pretty good! Don’t expect it to get much better without more data – only a handful of outlier data currently. Model currently overestimates due to 2023 in training data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0AA31E-2993-5155-F7E8-AE08E3C77E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10185" y="3375551"/>
            <a:ext cx="4260628" cy="319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327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87A1-B8AD-5959-5DF2-E7DBBFDEAA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Predicting plant influent alkalinity</a:t>
            </a:r>
          </a:p>
        </p:txBody>
      </p:sp>
    </p:spTree>
    <p:extLst>
      <p:ext uri="{BB962C8B-B14F-4D97-AF65-F5344CB8AC3E}">
        <p14:creationId xmlns:p14="http://schemas.microsoft.com/office/powerpoint/2010/main" val="4006505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9437F-9D8D-BD52-67B5-B34134436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 and Methods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249888E-D75E-217B-495E-16977ACD30AD}"/>
              </a:ext>
            </a:extLst>
          </p:cNvPr>
          <p:cNvSpPr txBox="1">
            <a:spLocks/>
          </p:cNvSpPr>
          <p:nvPr/>
        </p:nvSpPr>
        <p:spPr>
          <a:xfrm>
            <a:off x="596887" y="1593703"/>
            <a:ext cx="10138169" cy="45992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176"/>
              </a:spcBef>
              <a:buClr>
                <a:schemeClr val="tx1"/>
              </a:buClr>
              <a:buFontTx/>
              <a:buNone/>
              <a:defRPr sz="2400" b="0" i="0" kern="1200">
                <a:solidFill>
                  <a:srgbClr val="007DBA"/>
                </a:solidFill>
                <a:latin typeface="Arial"/>
                <a:ea typeface="+mn-ea"/>
                <a:cs typeface="Arial"/>
              </a:defRPr>
            </a:lvl1pPr>
            <a:lvl2pPr marL="342900" indent="-317500" algn="l" defTabSz="457200" rtl="0" eaLnBrk="1" latinLnBrk="0" hangingPunct="1">
              <a:spcBef>
                <a:spcPts val="1176"/>
              </a:spcBef>
              <a:buClr>
                <a:srgbClr val="80BE00"/>
              </a:buClr>
              <a:buFont typeface="Arial" panose="020B0604020202020204" pitchFamily="34" charset="0"/>
              <a:buChar char="•"/>
              <a:tabLst/>
              <a:defRPr sz="1800" b="0" i="0" kern="1200">
                <a:solidFill>
                  <a:srgbClr val="191513"/>
                </a:solidFill>
                <a:latin typeface="Arial"/>
                <a:ea typeface="+mn-ea"/>
                <a:cs typeface="Arial"/>
              </a:defRPr>
            </a:lvl2pPr>
            <a:lvl3pPr marL="685800" indent="-317500" algn="l" defTabSz="457200" rtl="0" eaLnBrk="1" latinLnBrk="0" hangingPunct="1">
              <a:spcBef>
                <a:spcPts val="1176"/>
              </a:spcBef>
              <a:buClr>
                <a:srgbClr val="80BE00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rgbClr val="191513"/>
                </a:solidFill>
              </a:defRPr>
            </a:lvl3pPr>
            <a:lvl4pPr marL="917575" indent="-231775" algn="l" defTabSz="457200" rtl="0" eaLnBrk="1" latinLnBrk="0" hangingPunct="1">
              <a:spcBef>
                <a:spcPts val="1176"/>
              </a:spcBef>
              <a:buClr>
                <a:srgbClr val="80BE00"/>
              </a:buClr>
              <a:buFont typeface="Arial" panose="020B0604020202020204" pitchFamily="34" charset="0"/>
              <a:buChar char="•"/>
              <a:tabLst/>
              <a:defRPr sz="1400" b="0" i="0" kern="1200">
                <a:solidFill>
                  <a:srgbClr val="191513"/>
                </a:solidFill>
                <a:latin typeface="Arial"/>
                <a:ea typeface="+mn-ea"/>
                <a:cs typeface="Arial"/>
              </a:defRPr>
            </a:lvl4pPr>
            <a:lvl5pPr marL="1200150" indent="-214313" algn="l" defTabSz="457200" rtl="0" eaLnBrk="1" latinLnBrk="0" hangingPunct="1">
              <a:spcBef>
                <a:spcPts val="1176"/>
              </a:spcBef>
              <a:buClr>
                <a:srgbClr val="80BE00"/>
              </a:buClr>
              <a:buFont typeface="Arial" panose="020B0604020202020204" pitchFamily="34" charset="0"/>
              <a:buChar char="•"/>
              <a:tabLst/>
              <a:defRPr sz="1400" b="0" i="0" kern="1200">
                <a:solidFill>
                  <a:srgbClr val="191513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Hypothesis: I can use the gage data to predict whether alkalinity will be </a:t>
            </a:r>
            <a:r>
              <a:rPr lang="en-US" sz="22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above or below 60 mg/L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at Foothills influent, thus acting as an early warning system for WQ events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Used Python scripts to pull USGS WQ data, DNR streamflow data, and NOAA precipitation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Cleaned data and created “engineered features” to train both a random forest </a:t>
            </a:r>
            <a:r>
              <a:rPr lang="en-US" sz="22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regression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and </a:t>
            </a:r>
            <a:r>
              <a:rPr lang="en-US" sz="22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classification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ML model to predict alkalinity. Test the models using unseen data to evaluate performance.</a:t>
            </a:r>
          </a:p>
        </p:txBody>
      </p:sp>
    </p:spTree>
    <p:extLst>
      <p:ext uri="{BB962C8B-B14F-4D97-AF65-F5344CB8AC3E}">
        <p14:creationId xmlns:p14="http://schemas.microsoft.com/office/powerpoint/2010/main" val="294091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4968D-082D-A755-753C-443411776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0A460-6173-424C-3C8C-1D22BE863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classification?</a:t>
            </a:r>
          </a:p>
        </p:txBody>
      </p:sp>
      <p:pic>
        <p:nvPicPr>
          <p:cNvPr id="1026" name="Picture 2" descr="Regression vs Classification in Machine Learning — Why Most Beginners Get  This Wrong | M004 | by Mehul Ligade | Towards AI">
            <a:extLst>
              <a:ext uri="{FF2B5EF4-FFF2-40B4-BE49-F238E27FC236}">
                <a16:creationId xmlns:a16="http://schemas.microsoft.com/office/drawing/2014/main" id="{D6B467ED-B3FE-8123-56CD-5EB280DAA6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78" b="12756"/>
          <a:stretch>
            <a:fillRect/>
          </a:stretch>
        </p:blipFill>
        <p:spPr bwMode="auto">
          <a:xfrm>
            <a:off x="2683843" y="1799924"/>
            <a:ext cx="6633411" cy="4203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3534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A02D5-7885-0DED-852E-C4CBF34DA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E6AE1-0041-02EC-3510-B48CBF114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975" y="787848"/>
            <a:ext cx="3294245" cy="1143000"/>
          </a:xfrm>
        </p:spPr>
        <p:txBody>
          <a:bodyPr/>
          <a:lstStyle/>
          <a:p>
            <a:r>
              <a:rPr lang="en-US" dirty="0"/>
              <a:t>Correlation matrix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83D58B-692E-D928-0DBD-83F93A855BA8}"/>
              </a:ext>
            </a:extLst>
          </p:cNvPr>
          <p:cNvSpPr txBox="1"/>
          <p:nvPr/>
        </p:nvSpPr>
        <p:spPr>
          <a:xfrm>
            <a:off x="372617" y="1957680"/>
            <a:ext cx="1904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B6E4B6-C999-7FBC-8B15-F6A861B8C9BF}"/>
              </a:ext>
            </a:extLst>
          </p:cNvPr>
          <p:cNvSpPr txBox="1"/>
          <p:nvPr/>
        </p:nvSpPr>
        <p:spPr>
          <a:xfrm>
            <a:off x="286353" y="2011344"/>
            <a:ext cx="689950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Examined spearman correlations of features as a starting point for choosing model predictors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Created a series of models with combinations of the highest correlated features until I landed upon the model with the best results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9D69D09A-1317-153C-EB28-1ADFD51789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67572" y="972152"/>
            <a:ext cx="4408892" cy="5511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952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4EE42-4A62-0E9F-9AE9-121612D6E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6C2E5-5274-FE33-526D-B6A43802B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257" y="644635"/>
            <a:ext cx="11071821" cy="1143000"/>
          </a:xfrm>
        </p:spPr>
        <p:txBody>
          <a:bodyPr/>
          <a:lstStyle/>
          <a:p>
            <a:r>
              <a:rPr lang="en-US" dirty="0"/>
              <a:t>Finalized model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17C78A-0729-1D31-F2B5-04FAEAE872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2388" y="2631026"/>
            <a:ext cx="7351195" cy="1998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565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4C667-58AC-8AF8-5C7E-E2760A31C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0FE02-5F4D-6F72-EA8D-A93542370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BFCBC42-700E-4DB3-E72F-A13EED9EC2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4618" y="1501280"/>
            <a:ext cx="11076317" cy="2128888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Similar to TOC, model predicts alkalinity 4 days ahead of time.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Evaluating the model</a:t>
            </a:r>
          </a:p>
          <a:p>
            <a:pPr marL="685800" lvl="1" indent="-342900"/>
            <a:r>
              <a:rPr lang="en-US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Precision: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when we make a prediction, how often is it correct?</a:t>
            </a:r>
          </a:p>
          <a:p>
            <a:pPr marL="685800" lvl="1" indent="-342900"/>
            <a:r>
              <a:rPr lang="en-US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Recall: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how many of the &lt;60 days out of the total proportion were identified?</a:t>
            </a:r>
            <a:endParaRPr lang="en-US" u="sng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685800" lvl="1" indent="-342900"/>
            <a:r>
              <a:rPr lang="en-US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Accuracy: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how many classifications out of all the total classifications were correct?</a:t>
            </a:r>
            <a:endParaRPr lang="en-US" u="sng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261F711-745D-1EA9-A782-4A5915DCB5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2265" y="3670382"/>
            <a:ext cx="3875711" cy="290678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805E31D-424B-7004-D490-2F54DA16CC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71" y="4246454"/>
            <a:ext cx="6294284" cy="75531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3F09C96-CEBF-7E7B-7D09-963D917E9A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799" y="5001768"/>
            <a:ext cx="4467328" cy="1197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927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9742D-F0FC-5C6C-8B51-41B12D27D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F4E4F39-E990-FAF3-8BBF-3EC6D9DD8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18" y="469165"/>
            <a:ext cx="11071821" cy="1143000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C47372-18D8-E89B-0079-2D032D8D4B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609" y="599400"/>
            <a:ext cx="7701590" cy="30806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A2CD33-6F15-1593-91BB-791AE51B33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9908" y="3597740"/>
            <a:ext cx="7842991" cy="313719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CE7FD7B-CDAC-BA96-4A1C-CAE8A1DAAC25}"/>
              </a:ext>
            </a:extLst>
          </p:cNvPr>
          <p:cNvSpPr txBox="1"/>
          <p:nvPr/>
        </p:nvSpPr>
        <p:spPr>
          <a:xfrm>
            <a:off x="286353" y="1348800"/>
            <a:ext cx="2392855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Full and zoomed in for more recent testing period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Model has struggled late 2025 and 2026 with lots of back and forth – </a:t>
            </a:r>
            <a:r>
              <a:rPr lang="en-US" sz="2200" i="1" dirty="0"/>
              <a:t>not sold on precision for catching as we cross the 60 mg/L threshold</a:t>
            </a:r>
          </a:p>
        </p:txBody>
      </p:sp>
    </p:spTree>
    <p:extLst>
      <p:ext uri="{BB962C8B-B14F-4D97-AF65-F5344CB8AC3E}">
        <p14:creationId xmlns:p14="http://schemas.microsoft.com/office/powerpoint/2010/main" val="4233129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7B024-848C-30C8-5475-4F172DAAD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88EAC-D51D-BB16-8914-C80A5F1D0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E044E1-D66B-1AEF-12FE-AFEDE4694B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9114" y="3099432"/>
            <a:ext cx="6716478" cy="33582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4F29127-F49D-8789-EE8C-50094B5C29F2}"/>
              </a:ext>
            </a:extLst>
          </p:cNvPr>
          <p:cNvSpPr txBox="1"/>
          <p:nvPr/>
        </p:nvSpPr>
        <p:spPr>
          <a:xfrm>
            <a:off x="729114" y="1454235"/>
            <a:ext cx="110718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Through feature engineering and model parameter tuning, achieved an R^2 of 0.65, RMSE of 5.89 mg/L, and MAPE of 8.34%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Similar to the classification model, struggles with back and forth around 60 mg/L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Don’t expect model to get resolution necessary to tell you on a day if it will be 61 or 59 mg/L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DCFE6D4-449B-8395-9CB3-C1C89371FF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10185" y="3180815"/>
            <a:ext cx="4260628" cy="319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996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AT PPT Template 2014">
  <a:themeElements>
    <a:clrScheme name="Denver Water 1">
      <a:dk1>
        <a:srgbClr val="000000"/>
      </a:dk1>
      <a:lt1>
        <a:srgbClr val="FEFFFE"/>
      </a:lt1>
      <a:dk2>
        <a:srgbClr val="008FCD"/>
      </a:dk2>
      <a:lt2>
        <a:srgbClr val="B9DECA"/>
      </a:lt2>
      <a:accent1>
        <a:srgbClr val="ED5A38"/>
      </a:accent1>
      <a:accent2>
        <a:srgbClr val="EE444A"/>
      </a:accent2>
      <a:accent3>
        <a:srgbClr val="8CD2D0"/>
      </a:accent3>
      <a:accent4>
        <a:srgbClr val="97C84A"/>
      </a:accent4>
      <a:accent5>
        <a:srgbClr val="D85F34"/>
      </a:accent5>
      <a:accent6>
        <a:srgbClr val="A03740"/>
      </a:accent6>
      <a:hlink>
        <a:srgbClr val="6AC6B5"/>
      </a:hlink>
      <a:folHlink>
        <a:srgbClr val="518478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 Template Widescreen Logo Header 2</Template>
  <TotalTime>2354</TotalTime>
  <Words>702</Words>
  <Application>Microsoft Office PowerPoint</Application>
  <PresentationFormat>Widescreen</PresentationFormat>
  <Paragraphs>52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Arial-BoldMT</vt:lpstr>
      <vt:lpstr>WAT PPT Template 2014</vt:lpstr>
      <vt:lpstr>TOC and Alkalinity soft-sensors for Foothills WTP</vt:lpstr>
      <vt:lpstr>Goals</vt:lpstr>
      <vt:lpstr>Methods</vt:lpstr>
      <vt:lpstr>What is Random Forest? i.e. many “decision trees”</vt:lpstr>
      <vt:lpstr>What is a train-test split?</vt:lpstr>
      <vt:lpstr>Feature engineering</vt:lpstr>
      <vt:lpstr>Correlation matrix</vt:lpstr>
      <vt:lpstr>Finalized model</vt:lpstr>
      <vt:lpstr>Results</vt:lpstr>
      <vt:lpstr>Predicting plant influent alkalinity</vt:lpstr>
      <vt:lpstr>Hypothesis and Methods</vt:lpstr>
      <vt:lpstr>What is classification?</vt:lpstr>
      <vt:lpstr>Correlation matrix</vt:lpstr>
      <vt:lpstr>Finalized model</vt:lpstr>
      <vt:lpstr>Results</vt:lpstr>
      <vt:lpstr>Results</vt:lpstr>
      <vt:lpstr>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Slawson, Jake</dc:creator>
  <cp:lastModifiedBy>Slawson, Jake</cp:lastModifiedBy>
  <cp:revision>1</cp:revision>
  <dcterms:created xsi:type="dcterms:W3CDTF">2026-04-23T17:10:07Z</dcterms:created>
  <dcterms:modified xsi:type="dcterms:W3CDTF">2026-08-25T20:46:39Z</dcterms:modified>
</cp:coreProperties>
</file>